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  <p:embeddedFont>
      <p:font typeface="Space Grotesk SemiBold"/>
      <p:regular r:id="rId25"/>
      <p:bold r:id="rId26"/>
    </p:embeddedFont>
    <p:embeddedFont>
      <p:font typeface="Inter Medium"/>
      <p:regular r:id="rId27"/>
      <p:bold r:id="rId28"/>
      <p:italic r:id="rId29"/>
      <p:boldItalic r:id="rId30"/>
    </p:embeddedFont>
    <p:embeddedFont>
      <p:font typeface="JetBrains Mono"/>
      <p:regular r:id="rId31"/>
      <p:bold r:id="rId32"/>
      <p:italic r:id="rId33"/>
      <p:boldItalic r:id="rId34"/>
    </p:embeddedFont>
    <p:embeddedFont>
      <p:font typeface="Space Grotesk"/>
      <p:regular r:id="rId35"/>
      <p:bold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paceGroteskSemiBold-bold.fntdata"/><Relationship Id="rId25" Type="http://schemas.openxmlformats.org/officeDocument/2006/relationships/font" Target="fonts/SpaceGroteskSemiBold-regular.fntdata"/><Relationship Id="rId28" Type="http://schemas.openxmlformats.org/officeDocument/2006/relationships/font" Target="fonts/InterMedium-bold.fntdata"/><Relationship Id="rId27" Type="http://schemas.openxmlformats.org/officeDocument/2006/relationships/font" Target="fonts/Inter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JetBrainsMono-regular.fntdata"/><Relationship Id="rId30" Type="http://schemas.openxmlformats.org/officeDocument/2006/relationships/font" Target="fonts/InterMedium-boldItalic.fntdata"/><Relationship Id="rId11" Type="http://schemas.openxmlformats.org/officeDocument/2006/relationships/slide" Target="slides/slide6.xml"/><Relationship Id="rId33" Type="http://schemas.openxmlformats.org/officeDocument/2006/relationships/font" Target="fonts/JetBrainsMono-italic.fntdata"/><Relationship Id="rId10" Type="http://schemas.openxmlformats.org/officeDocument/2006/relationships/slide" Target="slides/slide5.xml"/><Relationship Id="rId32" Type="http://schemas.openxmlformats.org/officeDocument/2006/relationships/font" Target="fonts/JetBrainsMono-bold.fntdata"/><Relationship Id="rId13" Type="http://schemas.openxmlformats.org/officeDocument/2006/relationships/slide" Target="slides/slide8.xml"/><Relationship Id="rId35" Type="http://schemas.openxmlformats.org/officeDocument/2006/relationships/font" Target="fonts/SpaceGrotesk-regular.fntdata"/><Relationship Id="rId12" Type="http://schemas.openxmlformats.org/officeDocument/2006/relationships/slide" Target="slides/slide7.xml"/><Relationship Id="rId34" Type="http://schemas.openxmlformats.org/officeDocument/2006/relationships/font" Target="fonts/JetBrainsMon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SpaceGrotesk-bold.fntdata"/><Relationship Id="rId17" Type="http://schemas.openxmlformats.org/officeDocument/2006/relationships/font" Target="fonts/InterSemiBold-regular.fntdata"/><Relationship Id="rId16" Type="http://schemas.openxmlformats.org/officeDocument/2006/relationships/slide" Target="slides/slide11.xml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5" Type="http://schemas.openxmlformats.org/officeDocument/2006/relationships/image" Target="../media/image17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2.png"/><Relationship Id="rId12" Type="http://schemas.openxmlformats.org/officeDocument/2006/relationships/image" Target="../media/image10.png"/><Relationship Id="rId9" Type="http://schemas.openxmlformats.org/officeDocument/2006/relationships/image" Target="../media/image14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11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Relationship Id="rId5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26.png"/><Relationship Id="rId11" Type="http://schemas.openxmlformats.org/officeDocument/2006/relationships/image" Target="../media/image22.png"/><Relationship Id="rId10" Type="http://schemas.openxmlformats.org/officeDocument/2006/relationships/image" Target="../media/image30.png"/><Relationship Id="rId12" Type="http://schemas.openxmlformats.org/officeDocument/2006/relationships/image" Target="../media/image33.png"/><Relationship Id="rId9" Type="http://schemas.openxmlformats.org/officeDocument/2006/relationships/image" Target="../media/image20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18.png"/><Relationship Id="rId8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35.png"/><Relationship Id="rId5" Type="http://schemas.openxmlformats.org/officeDocument/2006/relationships/image" Target="../media/image28.png"/><Relationship Id="rId6" Type="http://schemas.openxmlformats.org/officeDocument/2006/relationships/image" Target="../media/image3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29.png"/><Relationship Id="rId5" Type="http://schemas.openxmlformats.org/officeDocument/2006/relationships/image" Target="../media/image41.png"/><Relationship Id="rId6" Type="http://schemas.openxmlformats.org/officeDocument/2006/relationships/image" Target="../media/image32.png"/><Relationship Id="rId7" Type="http://schemas.openxmlformats.org/officeDocument/2006/relationships/image" Target="../media/image3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40.png"/><Relationship Id="rId5" Type="http://schemas.openxmlformats.org/officeDocument/2006/relationships/image" Target="../media/image37.png"/><Relationship Id="rId6" Type="http://schemas.openxmlformats.org/officeDocument/2006/relationships/image" Target="../media/image39.png"/><Relationship Id="rId7" Type="http://schemas.openxmlformats.org/officeDocument/2006/relationships/image" Target="../media/image36.png"/><Relationship Id="rId8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71700" y="1563141"/>
            <a:ext cx="7848600" cy="373156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585561" y="2144166"/>
            <a:ext cx="7020877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Block_IP Security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4800" u="none" cap="none" strike="noStrike">
                <a:solidFill>
                  <a:srgbClr val="00E5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Automation Dashboard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752725" y="3675608"/>
            <a:ext cx="66865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E5FF"/>
                </a:solidFill>
                <a:latin typeface="Inter Medium"/>
                <a:ea typeface="Inter Medium"/>
                <a:cs typeface="Inter Medium"/>
                <a:sym typeface="Inter Medium"/>
              </a:rPr>
              <a:t>Automated Threat Intelligence &amp; IP Blocking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752725" y="4296519"/>
            <a:ext cx="66865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Technical Presentation / 針對 IT 團隊技術簡報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12739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1912739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Project Purpose (目的)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417564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Automate the analysis of SSLVPN failed logins from FortiAnalyzer (FAZ) and correlate them with VirusTotal's threat intelligence to identify and block malicious attackers.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3383309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自動分析 FAZ 上的 SSLVPN 登入失敗日誌，並結合 VirusTotal 的威脅情資來識別並阻擋惡意攻擊者。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4217640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Key Components (核心組件)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57250" y="4722465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E5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Python Backend: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API Integration &amp; Data Processing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57250" y="5139630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E5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SQLite Database: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Local Caching &amp; Data Aggregation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57250" y="5556795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E5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PHP/JS Dashboard: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Real-time Data Visualization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22264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E5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Introduction / 專案簡介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41515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158680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575845"/>
            <a:ext cx="8572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84027"/>
            <a:ext cx="3492549" cy="39184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984027"/>
            <a:ext cx="3492549" cy="39184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984027"/>
            <a:ext cx="3492549" cy="39184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2184052"/>
            <a:ext cx="309249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49824" y="2184052"/>
            <a:ext cx="309249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28124" y="2184052"/>
            <a:ext cx="309249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694212" y="4327177"/>
            <a:ext cx="324712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E5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1. Data Extraction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771525" y="4736752"/>
            <a:ext cx="30924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Fetch raw logs via JSON-RPC. Filter private IPs, extract target public IPs from FAZ.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472512" y="4327177"/>
            <a:ext cx="324712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E5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2. Threat Intel &amp; Cache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4549824" y="4736752"/>
            <a:ext cx="30924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Check local SQLite Cache first to save quota. If miss, query VirusTotal API v3.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250811" y="4327177"/>
            <a:ext cx="324712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E5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3. Dashboard &amp; Verdict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328124" y="4736752"/>
            <a:ext cx="30924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Classify based on vendor flags (Malicious, Suspicious, Clean). Display instantly.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81050" y="2193577"/>
            <a:ext cx="3073449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559349" y="2193577"/>
            <a:ext cx="3073449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337649" y="2193577"/>
            <a:ext cx="307344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E5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Analysis Workflow / 分析流程架構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46064"/>
            <a:ext cx="5286375" cy="4194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46064"/>
            <a:ext cx="5286375" cy="419457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962025" y="2236589"/>
            <a:ext cx="473059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E5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Protocol &amp; Auth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962025" y="2722364"/>
            <a:ext cx="45053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962025" y="2922389"/>
            <a:ext cx="45053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Robust and secure connection methodologies to ensure data integrity and confidentiality without exposing credentials.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724650" y="2236589"/>
            <a:ext cx="473059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E5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Asynchronous Process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6724650" y="2722364"/>
            <a:ext cx="45053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6724650" y="2922389"/>
            <a:ext cx="45053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Handling large log datasets requires an async approach to prevent timeouts and ensure complete data retrieval.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247775" y="3935759"/>
            <a:ext cx="42195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E5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Protocol: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Fortinet JSON-RPC 2.0 API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247775" y="4352925"/>
            <a:ext cx="42195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E5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Authentication: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Bearer Token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247775" y="4770090"/>
            <a:ext cx="42195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E5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Security: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No passwords stored in scripts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1247775" y="5187255"/>
            <a:ext cx="42195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E5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Endpoint: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/logview/adom/root/logsearch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7200900" y="3916709"/>
            <a:ext cx="40290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Send search query (e.g., subtype == vpn &amp;&amp; action == ssl-login-fail).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7200900" y="4560540"/>
            <a:ext cx="40290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FAZ backend returns a unique Task ID (tid).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7200900" y="4930080"/>
            <a:ext cx="40290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Python continuously polls FAZ for chunks of logs using the tid until 100% complete.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E5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Querying FAZ Logs / 透過 API 查詢 FAZ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2" name="Google Shape;15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3954809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4371975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4789140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5206305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15150" y="3935759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15150" y="4579590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15150" y="4949130"/>
            <a:ext cx="8572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571500" y="571500"/>
            <a:ext cx="555069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E5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VirusTotal API Integration</a:t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571500" y="1171575"/>
            <a:ext cx="5286375" cy="190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6" name="Google Shape;16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571500" y="2084040"/>
            <a:ext cx="5286375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Our REST API v3 integration aggressively handles </a:t>
            </a:r>
            <a:r>
              <a:rPr b="0" i="0" lang="en-US" sz="1500" u="none" cap="none" strike="noStrike">
                <a:solidFill>
                  <a:srgbClr val="FF2A6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rate limit throttles (HTTP 429)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via automated time.sleep() pauses.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571500" y="3207990"/>
            <a:ext cx="52863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 preserve free API quotas, we deployed a </a:t>
            </a:r>
            <a:r>
              <a:rPr b="0" i="0" lang="en-US" sz="1500" u="none" cap="none" strike="noStrike">
                <a:solidFill>
                  <a:srgbClr val="00E5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3-Tier Cache System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571500" y="5307210"/>
            <a:ext cx="52863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Result: </a:t>
            </a:r>
            <a:r>
              <a:rPr b="0" i="0" lang="en-US" sz="1500" u="none" cap="none" strike="noStrike">
                <a:solidFill>
                  <a:srgbClr val="00E5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Saves &gt;90% of API calls.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66750" y="416906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762000" y="4170015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Permanent Blacklist (30-day TTL)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666750" y="444335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762000" y="4444305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General Cache (7-day TTL)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66750" y="471764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762000" y="4718595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Live API Fetch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62187"/>
            <a:ext cx="528637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62187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962025" y="2500312"/>
            <a:ext cx="4505325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FF2A6D"/>
                </a:solidFill>
                <a:latin typeface="Space Grotesk"/>
                <a:ea typeface="Space Grotesk"/>
                <a:cs typeface="Space Grotesk"/>
                <a:sym typeface="Space Grotesk"/>
              </a:rPr>
              <a:t>75K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962025" y="3643312"/>
            <a:ext cx="450532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FAZ API Log Ceiling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FAZ protects memory by hard-capping single queries.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00E5FF"/>
                </a:solidFill>
                <a:latin typeface="Inter"/>
                <a:ea typeface="Inter"/>
                <a:cs typeface="Inter"/>
                <a:sym typeface="Inter"/>
              </a:rPr>
              <a:t>Solution:</a:t>
            </a: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Windows Task Scheduler cron jobs fetch small hourly deltas, permanently bypassing the ceiling.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6724650" y="2500312"/>
            <a:ext cx="4505325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FF2A6D"/>
                </a:solidFill>
                <a:latin typeface="Space Grotesk"/>
                <a:ea typeface="Space Grotesk"/>
                <a:cs typeface="Space Grotesk"/>
                <a:sym typeface="Space Grotesk"/>
              </a:rPr>
              <a:t>4/MIN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6724650" y="3643312"/>
            <a:ext cx="450532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VirusTotal Free API Throttle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Free tier strictly limits request velocity.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00E5FF"/>
                </a:solidFill>
                <a:latin typeface="Inter"/>
                <a:ea typeface="Inter"/>
                <a:cs typeface="Inter"/>
                <a:sym typeface="Inter"/>
              </a:rPr>
              <a:t>Solution:</a:t>
            </a: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Aggressive SQLite caching mitigates this, though bulk initial scans may take minutes to clear.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E5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Technical Limitations &amp; Solutions</a:t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571500" y="1171575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28812"/>
            <a:ext cx="3492549" cy="40289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928812"/>
            <a:ext cx="3492549" cy="40289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928812"/>
            <a:ext cx="3492549" cy="40289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27171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866775" y="3271837"/>
            <a:ext cx="26003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Single Pane of Glass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866775" y="3757612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Because FAZ centralizes logs for all infrastructure, scaling to a 2nd, 3rd, or 10th FortiGate requires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zero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direct firewall queries.</a:t>
            </a:r>
            <a:endParaRPr/>
          </a:p>
        </p:txBody>
      </p:sp>
      <p:pic>
        <p:nvPicPr>
          <p:cNvPr descr="image.png" id="200" name="Google Shape;20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27171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4645074" y="3271837"/>
            <a:ext cx="30470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Required Logic Changes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4645074" y="4100512"/>
            <a:ext cx="2901999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Update FAZ search filters to group by devid (Device ID). Add a source_device column to the SQLite cache schema and PHP UI dropdowns.</a:t>
            </a:r>
            <a:endParaRPr/>
          </a:p>
        </p:txBody>
      </p:sp>
      <p:pic>
        <p:nvPicPr>
          <p:cNvPr descr="image.png" id="203" name="Google Shape;203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27171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8423374" y="3271837"/>
            <a:ext cx="250031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Auto-Blocking Goal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8423374" y="3757612"/>
            <a:ext cx="2901999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ultimate milestone: Push the generated Malicious IPs list back to FortiGates via Fortinet Fabric Connectors (External Dynamic Block List).</a:t>
            </a:r>
            <a:endParaRPr/>
          </a:p>
        </p:txBody>
      </p:sp>
      <p:pic>
        <p:nvPicPr>
          <p:cNvPr descr="image.png" id="206" name="Google Shape;206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7750" y="2452687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49862" y="2452687"/>
            <a:ext cx="3524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04349" y="2452687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E5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Next Steps &amp; Scaling Out / 擴展建議</a:t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95512"/>
            <a:ext cx="5286375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95512"/>
            <a:ext cx="5286375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3271837"/>
            <a:ext cx="4505325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3271837"/>
            <a:ext cx="4505325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 txBox="1"/>
          <p:nvPr/>
        </p:nvSpPr>
        <p:spPr>
          <a:xfrm>
            <a:off x="962025" y="2586037"/>
            <a:ext cx="473059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E5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1. Start the Search Task</a:t>
            </a:r>
            <a:endParaRPr/>
          </a:p>
        </p:txBody>
      </p:sp>
      <p:sp>
        <p:nvSpPr>
          <p:cNvPr id="221" name="Google Shape;221;p20"/>
          <p:cNvSpPr/>
          <p:nvPr/>
        </p:nvSpPr>
        <p:spPr>
          <a:xfrm>
            <a:off x="962025" y="3071812"/>
            <a:ext cx="45053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6724650" y="2586037"/>
            <a:ext cx="473059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E5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2. Continually Poll for Results</a:t>
            </a: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6724650" y="3071812"/>
            <a:ext cx="45053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1162050" y="3481387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1466850" y="3481387"/>
            <a:ext cx="1143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2A8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search_faz_logs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2914650" y="3481387"/>
            <a:ext cx="1371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Init search task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1162050" y="3681412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5D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"id"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1619250" y="3681412"/>
            <a:ext cx="7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1847850" y="3681412"/>
            <a:ext cx="685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5D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"jsonrpc"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2686050" y="3681412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5D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"2.0"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3219450" y="3681412"/>
            <a:ext cx="609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5D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"method"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3981450" y="3681412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5D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"exec"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1162050" y="3881437"/>
            <a:ext cx="609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5D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"params"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2152650" y="3881437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5D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"url"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2686050" y="3881437"/>
            <a:ext cx="2286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5D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"/logview/adom/root/logsearch"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1162050" y="4081462"/>
            <a:ext cx="609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5D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"filter"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1924050" y="4081462"/>
            <a:ext cx="3048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5D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"subtype==vpn &amp;&amp; action==ssl-login-fail"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3905250" y="4481512"/>
            <a:ext cx="609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5D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'result'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1771650" y="4681537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5D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'tid'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6924675" y="3481387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Poll using Task ID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9591675" y="3481387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10506075" y="3481387"/>
            <a:ext cx="15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7381875" y="3681412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8677275" y="3681412"/>
            <a:ext cx="7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6924675" y="3681412"/>
            <a:ext cx="38862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use task_id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9972675" y="4081462"/>
            <a:ext cx="609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5D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"result"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7534275" y="4281487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5D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"data"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7458075" y="4481512"/>
            <a:ext cx="609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5D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"result"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8829675" y="4481512"/>
            <a:ext cx="914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5D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"percentage"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9896475" y="4481512"/>
            <a:ext cx="7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10125075" y="4481512"/>
            <a:ext cx="15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6924675" y="4681537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7305675" y="4681537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break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7762875" y="4681537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E5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Appendix A: Querying FAZ API</a:t>
            </a:r>
            <a:endParaRPr/>
          </a:p>
        </p:txBody>
      </p:sp>
      <p:sp>
        <p:nvSpPr>
          <p:cNvPr id="256" name="Google Shape;256;p20"/>
          <p:cNvSpPr/>
          <p:nvPr/>
        </p:nvSpPr>
        <p:spPr>
          <a:xfrm>
            <a:off x="571500" y="1171575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95512"/>
            <a:ext cx="5372100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9850" y="2195512"/>
            <a:ext cx="5200650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3271837"/>
            <a:ext cx="4591050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10375" y="3271837"/>
            <a:ext cx="4419600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1"/>
          <p:cNvSpPr txBox="1"/>
          <p:nvPr/>
        </p:nvSpPr>
        <p:spPr>
          <a:xfrm>
            <a:off x="962025" y="2586037"/>
            <a:ext cx="482060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E5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1. Handle Rate Limiting</a:t>
            </a:r>
            <a:endParaRPr/>
          </a:p>
        </p:txBody>
      </p:sp>
      <p:sp>
        <p:nvSpPr>
          <p:cNvPr id="267" name="Google Shape;267;p21"/>
          <p:cNvSpPr/>
          <p:nvPr/>
        </p:nvSpPr>
        <p:spPr>
          <a:xfrm>
            <a:off x="962025" y="3071812"/>
            <a:ext cx="45910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6810375" y="2586037"/>
            <a:ext cx="464058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E5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2. Extract Malicious Flags</a:t>
            </a:r>
            <a:endParaRPr/>
          </a:p>
        </p:txBody>
      </p:sp>
      <p:sp>
        <p:nvSpPr>
          <p:cNvPr id="269" name="Google Shape;269;p21"/>
          <p:cNvSpPr/>
          <p:nvPr/>
        </p:nvSpPr>
        <p:spPr>
          <a:xfrm>
            <a:off x="6810375" y="3071812"/>
            <a:ext cx="44196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1162050" y="3481387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1466850" y="3481387"/>
            <a:ext cx="1066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2A8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classify_ip_vt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1238250" y="3681412"/>
            <a:ext cx="4114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5D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"https://virustotal.com/api/v3/ip_addresses/{ip_addr}"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1162050" y="3881437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try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1162050" y="3881437"/>
            <a:ext cx="42672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Handle Free Tier Throttle (4 per min)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3524250" y="4081462"/>
            <a:ext cx="15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1390650" y="4281487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429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1771650" y="4281487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2A8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2228850" y="4281487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5D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"[Warning] Rate limit. Wait 60s..."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2000250" y="4481512"/>
            <a:ext cx="15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60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7010400" y="3481387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Parse the JSON response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7086600" y="3681412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5D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'data'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7696200" y="3681412"/>
            <a:ext cx="914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5D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'attributes'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7391400" y="3881437"/>
            <a:ext cx="1600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5D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'last_analysis_stats'</a:t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7010400" y="3881437"/>
            <a:ext cx="37338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Count vendor flags marking as malicious</a:t>
            </a:r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7772400" y="4281487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5D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'malicious'</a:t>
            </a:r>
            <a:endParaRPr/>
          </a:p>
        </p:txBody>
      </p:sp>
      <p:sp>
        <p:nvSpPr>
          <p:cNvPr id="286" name="Google Shape;286;p21"/>
          <p:cNvSpPr txBox="1"/>
          <p:nvPr/>
        </p:nvSpPr>
        <p:spPr>
          <a:xfrm>
            <a:off x="8763000" y="4281487"/>
            <a:ext cx="76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/>
          </a:p>
        </p:txBody>
      </p:sp>
      <p:sp>
        <p:nvSpPr>
          <p:cNvPr id="287" name="Google Shape;287;p21"/>
          <p:cNvSpPr txBox="1"/>
          <p:nvPr/>
        </p:nvSpPr>
        <p:spPr>
          <a:xfrm>
            <a:off x="8991600" y="4281487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2A8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endParaRPr/>
          </a:p>
        </p:txBody>
      </p:sp>
      <p:sp>
        <p:nvSpPr>
          <p:cNvPr id="288" name="Google Shape;288;p21"/>
          <p:cNvSpPr txBox="1"/>
          <p:nvPr/>
        </p:nvSpPr>
        <p:spPr>
          <a:xfrm>
            <a:off x="7010400" y="4281487"/>
            <a:ext cx="3810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5D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"IP: {ip_addr} | Flags: {malicious_count}"</a:t>
            </a:r>
            <a:endParaRPr/>
          </a:p>
        </p:txBody>
      </p:sp>
      <p:sp>
        <p:nvSpPr>
          <p:cNvPr id="289" name="Google Shape;289;p21"/>
          <p:cNvSpPr txBox="1"/>
          <p:nvPr/>
        </p:nvSpPr>
        <p:spPr>
          <a:xfrm>
            <a:off x="9067800" y="4481512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endParaRPr/>
          </a:p>
        </p:txBody>
      </p:sp>
      <p:sp>
        <p:nvSpPr>
          <p:cNvPr id="290" name="Google Shape;290;p21"/>
          <p:cNvSpPr txBox="1"/>
          <p:nvPr/>
        </p:nvSpPr>
        <p:spPr>
          <a:xfrm>
            <a:off x="7010400" y="4681537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except</a:t>
            </a:r>
            <a:endParaRPr/>
          </a:p>
        </p:txBody>
      </p:sp>
      <p:sp>
        <p:nvSpPr>
          <p:cNvPr id="291" name="Google Shape;291;p21"/>
          <p:cNvSpPr txBox="1"/>
          <p:nvPr/>
        </p:nvSpPr>
        <p:spPr>
          <a:xfrm>
            <a:off x="8305800" y="4681537"/>
            <a:ext cx="15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</a:t>
            </a:r>
            <a:endParaRPr/>
          </a:p>
        </p:txBody>
      </p:sp>
      <p:sp>
        <p:nvSpPr>
          <p:cNvPr id="292" name="Google Shape;292;p21"/>
          <p:cNvSpPr txBox="1"/>
          <p:nvPr/>
        </p:nvSpPr>
        <p:spPr>
          <a:xfrm>
            <a:off x="8763000" y="4681537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2A8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endParaRPr/>
          </a:p>
        </p:txBody>
      </p:sp>
      <p:sp>
        <p:nvSpPr>
          <p:cNvPr id="293" name="Google Shape;293;p21"/>
          <p:cNvSpPr txBox="1"/>
          <p:nvPr/>
        </p:nvSpPr>
        <p:spPr>
          <a:xfrm>
            <a:off x="7010400" y="4681537"/>
            <a:ext cx="3810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5D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"Error querying VT: {e}"</a:t>
            </a:r>
            <a:endParaRPr/>
          </a:p>
        </p:txBody>
      </p:sp>
      <p:sp>
        <p:nvSpPr>
          <p:cNvPr id="294" name="Google Shape;294;p21"/>
          <p:cNvSpPr txBox="1"/>
          <p:nvPr/>
        </p:nvSpPr>
        <p:spPr>
          <a:xfrm>
            <a:off x="7467600" y="4881562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7B7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None</a:t>
            </a:r>
            <a:endParaRPr/>
          </a:p>
        </p:txBody>
      </p:sp>
      <p:sp>
        <p:nvSpPr>
          <p:cNvPr id="295" name="Google Shape;295;p21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E5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Appendix B: Querying VT API</a:t>
            </a:r>
            <a:endParaRPr/>
          </a:p>
        </p:txBody>
      </p:sp>
      <p:sp>
        <p:nvSpPr>
          <p:cNvPr id="296" name="Google Shape;296;p21"/>
          <p:cNvSpPr/>
          <p:nvPr/>
        </p:nvSpPr>
        <p:spPr>
          <a:xfrm>
            <a:off x="571500" y="1171575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1" name="Google Shape;30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2"/>
          <p:cNvSpPr txBox="1"/>
          <p:nvPr/>
        </p:nvSpPr>
        <p:spPr>
          <a:xfrm>
            <a:off x="295275" y="2320230"/>
            <a:ext cx="1160145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E5FF"/>
                </a:solidFill>
                <a:latin typeface="Space Grotesk"/>
                <a:ea typeface="Space Grotesk"/>
                <a:cs typeface="Space Grotesk"/>
                <a:sym typeface="Space Grotesk"/>
              </a:rPr>
              <a:t>Questions?</a:t>
            </a:r>
            <a:endParaRPr/>
          </a:p>
        </p:txBody>
      </p:sp>
      <p:sp>
        <p:nvSpPr>
          <p:cNvPr id="303" name="Google Shape;303;p22"/>
          <p:cNvSpPr txBox="1"/>
          <p:nvPr/>
        </p:nvSpPr>
        <p:spPr>
          <a:xfrm>
            <a:off x="571500" y="348228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Thank you for your time and attention.</a:t>
            </a:r>
            <a:endParaRPr/>
          </a:p>
        </p:txBody>
      </p:sp>
      <p:sp>
        <p:nvSpPr>
          <p:cNvPr id="304" name="Google Shape;304;p22"/>
          <p:cNvSpPr txBox="1"/>
          <p:nvPr/>
        </p:nvSpPr>
        <p:spPr>
          <a:xfrm>
            <a:off x="571500" y="4289970"/>
            <a:ext cx="11049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IT Department | Cybersecurity Team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9" name="Google Shape;30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3"/>
          <p:cNvSpPr/>
          <p:nvPr/>
        </p:nvSpPr>
        <p:spPr>
          <a:xfrm>
            <a:off x="571500" y="1773733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3"/>
          <p:cNvSpPr/>
          <p:nvPr/>
        </p:nvSpPr>
        <p:spPr>
          <a:xfrm>
            <a:off x="571500" y="275659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3"/>
          <p:cNvSpPr/>
          <p:nvPr/>
        </p:nvSpPr>
        <p:spPr>
          <a:xfrm>
            <a:off x="571500" y="354136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3"/>
          <p:cNvSpPr/>
          <p:nvPr/>
        </p:nvSpPr>
        <p:spPr>
          <a:xfrm>
            <a:off x="571500" y="432613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3"/>
          <p:cNvSpPr/>
          <p:nvPr/>
        </p:nvSpPr>
        <p:spPr>
          <a:xfrm>
            <a:off x="571500" y="274706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3"/>
          <p:cNvSpPr/>
          <p:nvPr/>
        </p:nvSpPr>
        <p:spPr>
          <a:xfrm>
            <a:off x="571500" y="274706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3"/>
          <p:cNvSpPr/>
          <p:nvPr/>
        </p:nvSpPr>
        <p:spPr>
          <a:xfrm>
            <a:off x="571500" y="353184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3"/>
          <p:cNvSpPr/>
          <p:nvPr/>
        </p:nvSpPr>
        <p:spPr>
          <a:xfrm>
            <a:off x="571500" y="353184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3"/>
          <p:cNvSpPr/>
          <p:nvPr/>
        </p:nvSpPr>
        <p:spPr>
          <a:xfrm>
            <a:off x="571500" y="431661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3"/>
          <p:cNvSpPr/>
          <p:nvPr/>
        </p:nvSpPr>
        <p:spPr>
          <a:xfrm>
            <a:off x="571500" y="431661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3"/>
          <p:cNvSpPr/>
          <p:nvPr/>
        </p:nvSpPr>
        <p:spPr>
          <a:xfrm>
            <a:off x="571500" y="510138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3"/>
          <p:cNvSpPr/>
          <p:nvPr/>
        </p:nvSpPr>
        <p:spPr>
          <a:xfrm>
            <a:off x="571500" y="510138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2" name="Google Shape;32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222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3"/>
          <p:cNvSpPr txBox="1"/>
          <p:nvPr/>
        </p:nvSpPr>
        <p:spPr>
          <a:xfrm>
            <a:off x="1666875" y="1916608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https://png.pngtree.com/thumb_back/fw800/background/20251210/pngtree-futuristic-isometric-illustration-of-a-computer-system-with-glowing-internal-components-image_20794218.webp</a:t>
            </a:r>
            <a:endParaRPr/>
          </a:p>
        </p:txBody>
      </p:sp>
      <p:sp>
        <p:nvSpPr>
          <p:cNvPr id="324" name="Google Shape;324;p23"/>
          <p:cNvSpPr txBox="1"/>
          <p:nvPr/>
        </p:nvSpPr>
        <p:spPr>
          <a:xfrm>
            <a:off x="1666875" y="236041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pic>
        <p:nvPicPr>
          <p:cNvPr descr="image.png" id="325" name="Google Shape;32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90601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3"/>
          <p:cNvSpPr txBox="1"/>
          <p:nvPr/>
        </p:nvSpPr>
        <p:spPr>
          <a:xfrm>
            <a:off x="1666875" y="289946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https://www.hts-italy.com/wp-content/uploads/2023/10/Log_Parsing-1200x500-c-default.png</a:t>
            </a:r>
            <a:endParaRPr/>
          </a:p>
        </p:txBody>
      </p:sp>
      <p:sp>
        <p:nvSpPr>
          <p:cNvPr id="327" name="Google Shape;327;p23"/>
          <p:cNvSpPr txBox="1"/>
          <p:nvPr/>
        </p:nvSpPr>
        <p:spPr>
          <a:xfrm>
            <a:off x="1666875" y="314518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www.hts-italy.com</a:t>
            </a:r>
            <a:endParaRPr/>
          </a:p>
        </p:txBody>
      </p:sp>
      <p:pic>
        <p:nvPicPr>
          <p:cNvPr descr="image.png" id="328" name="Google Shape;32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9078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3"/>
          <p:cNvSpPr txBox="1"/>
          <p:nvPr/>
        </p:nvSpPr>
        <p:spPr>
          <a:xfrm>
            <a:off x="1666875" y="368424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https://image.shutterstock.com/image-vector/neon-glowing-data-server-icon-250nw-2676899557.jpg</a:t>
            </a:r>
            <a:endParaRPr/>
          </a:p>
        </p:txBody>
      </p:sp>
      <p:sp>
        <p:nvSpPr>
          <p:cNvPr id="330" name="Google Shape;330;p23"/>
          <p:cNvSpPr txBox="1"/>
          <p:nvPr/>
        </p:nvSpPr>
        <p:spPr>
          <a:xfrm>
            <a:off x="1666875" y="392995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freesvg.org</a:t>
            </a:r>
            <a:endParaRPr/>
          </a:p>
        </p:txBody>
      </p:sp>
      <p:pic>
        <p:nvPicPr>
          <p:cNvPr descr="image.png" id="331" name="Google Shape;331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7555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3"/>
          <p:cNvSpPr txBox="1"/>
          <p:nvPr/>
        </p:nvSpPr>
        <p:spPr>
          <a:xfrm>
            <a:off x="1666875" y="446901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https://img.freepik.com/premium-photo/hacker-with-abstract-big-data-interface-blurry-background-software-hacking-concept-double-exposure_670147-57346.jpg</a:t>
            </a:r>
            <a:endParaRPr/>
          </a:p>
        </p:txBody>
      </p:sp>
      <p:sp>
        <p:nvSpPr>
          <p:cNvPr id="333" name="Google Shape;333;p23"/>
          <p:cNvSpPr txBox="1"/>
          <p:nvPr/>
        </p:nvSpPr>
        <p:spPr>
          <a:xfrm>
            <a:off x="1666875" y="471472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www.freepik.com</a:t>
            </a:r>
            <a:endParaRPr/>
          </a:p>
        </p:txBody>
      </p:sp>
      <p:pic>
        <p:nvPicPr>
          <p:cNvPr descr="image.png" id="334" name="Google Shape;334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35944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3"/>
          <p:cNvSpPr txBox="1"/>
          <p:nvPr/>
        </p:nvSpPr>
        <p:spPr>
          <a:xfrm>
            <a:off x="1666875" y="5253781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https://static.vecteezy.com/system/resources/previews/015/649/112/non_2x/abstract-background-digital-concept-cybersecurity-shield-anti-virus-malware-spy-protection-cyber-theft-security-on-a-blue-black-background-vector.jpg</a:t>
            </a:r>
            <a:endParaRPr/>
          </a:p>
        </p:txBody>
      </p:sp>
      <p:sp>
        <p:nvSpPr>
          <p:cNvPr id="336" name="Google Shape;336;p23"/>
          <p:cNvSpPr txBox="1"/>
          <p:nvPr/>
        </p:nvSpPr>
        <p:spPr>
          <a:xfrm>
            <a:off x="1666875" y="569758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sp>
        <p:nvSpPr>
          <p:cNvPr id="337" name="Google Shape;337;p23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E5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Image Sources</a:t>
            </a:r>
            <a:endParaRPr/>
          </a:p>
        </p:txBody>
      </p:sp>
      <p:sp>
        <p:nvSpPr>
          <p:cNvPr id="338" name="Google Shape;338;p23"/>
          <p:cNvSpPr/>
          <p:nvPr/>
        </p:nvSpPr>
        <p:spPr>
          <a:xfrm>
            <a:off x="571500" y="1171575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